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HepatoAI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Liver Disease Clinical Decision Support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Icahn School of Medicine at Mount Sinai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5669280" cy="640080"/>
          </a:xfrm>
          <a:prstGeom prst="rect">
            <a:avLst/>
          </a:prstGeom>
          <a:solidFill>
            <a:srgbClr val="EAF0F6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Physician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234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 </a:t>
            </a:r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(index.html)  ·  Clinical Report Display  ·  Image Upload  ·  Real-time Streaming (SSE)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35808" y="1874520"/>
            <a:ext cx="0" cy="274320"/>
          </a:xfrm>
          <a:prstGeom prst="line">
            <a:avLst/>
          </a:prstGeom>
          <a:noFill/>
          <a:ln w="25400">
            <a:solidFill>
              <a:srgbClr val="1B7A8C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3108960" y="1901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/ HTTP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2148840"/>
            <a:ext cx="5669280" cy="658368"/>
          </a:xfrm>
          <a:prstGeom prst="rect">
            <a:avLst/>
          </a:prstGeom>
          <a:solidFill>
            <a:srgbClr val="E6F4F7"/>
          </a:solidFill>
          <a:ln w="19050">
            <a:solidFill>
              <a:srgbClr val="1B7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48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FastAPI 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1488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web_app.py  ·  Agentic Loop (max 6 iter)  ·  Forced tool execution  ·  Report builder  ·  SSE streaming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35808" y="2807208"/>
            <a:ext cx="0" cy="256032"/>
          </a:xfrm>
          <a:prstGeom prst="line">
            <a:avLst/>
          </a:prstGeom>
          <a:noFill/>
          <a:ln w="25400">
            <a:solidFill>
              <a:srgbClr val="1B7A8C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01168" y="3063240"/>
            <a:ext cx="2651760" cy="713232"/>
          </a:xfrm>
          <a:prstGeom prst="rect">
            <a:avLst/>
          </a:prstGeom>
          <a:solidFill>
            <a:srgbClr val="EAF6EF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Ollama  (Local · Free)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 ·  Tool calling  ·  Clinical reasoning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63240" y="3063240"/>
            <a:ext cx="2807208" cy="713232"/>
          </a:xfrm>
          <a:prstGeom prst="rect">
            <a:avLst/>
          </a:prstGeom>
          <a:solidFill>
            <a:srgbClr val="FFF8EC"/>
          </a:solidFill>
          <a:ln w="19050">
            <a:solidFill>
              <a:srgbClr val="C88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0632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GPT-4o  (OpenAI API)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54680" y="3337560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  ·  CT / MRI / Pathology  ·  ~$0.01–0.03/img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35808" y="3776472"/>
            <a:ext cx="0" cy="256032"/>
          </a:xfrm>
          <a:prstGeom prst="line">
            <a:avLst/>
          </a:prstGeom>
          <a:noFill/>
          <a:ln w="25400">
            <a:solidFill>
              <a:srgbClr val="1B7A8C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201168" y="4032504"/>
            <a:ext cx="5669280" cy="566928"/>
          </a:xfrm>
          <a:prstGeom prst="rect">
            <a:avLst/>
          </a:prstGeom>
          <a:solidFill>
            <a:srgbClr val="F5F0FF"/>
          </a:solidFill>
          <a:ln w="1905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0325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12 Clinical Tools  (tools.py)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14600" y="40325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parser · Urgent flags · Severity scores · DDx · Treatment · aMAP · PAGE-B · Baveno VII · MASLD-ML · eGFR · HAS-BLED · SOFA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35808" y="4599432"/>
            <a:ext cx="0" cy="246888"/>
          </a:xfrm>
          <a:prstGeom prst="line">
            <a:avLst/>
          </a:prstGeom>
          <a:noFill/>
          <a:ln w="25400">
            <a:solidFill>
              <a:srgbClr val="1B7A8C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201168" y="4846320"/>
            <a:ext cx="5669280" cy="566928"/>
          </a:xfrm>
          <a:prstGeom prst="rect">
            <a:avLst/>
          </a:prstGeom>
          <a:solidFill>
            <a:srgbClr val="F0F4F7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8463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Knowledge 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65960" y="48463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Guidelines  ·  27 Diseases  ·  AASLD · EASL · Baveno VII · SMFM · WHO · RCOG · APASL · ICA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5550408"/>
            <a:ext cx="5669280" cy="566928"/>
          </a:xfrm>
          <a:prstGeom prst="rect">
            <a:avLst/>
          </a:prstGeom>
          <a:solidFill>
            <a:srgbClr val="EAF0F6"/>
          </a:solidFill>
          <a:ln w="1905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5550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Clinical Report Output  (7 Modules)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6080" y="55504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Abnormal Values  ② Scores  ③ Diagnosis  ④ DDx  ⑤ Treatment  ⑥ Management  ⑦ Summary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1234440"/>
            <a:ext cx="2743200" cy="2286000"/>
          </a:xfrm>
          <a:prstGeom prst="rect">
            <a:avLst/>
          </a:prstGeom>
          <a:solidFill>
            <a:srgbClr val="F0F4F7"/>
          </a:solidFill>
          <a:ln w="12700">
            <a:solidFill>
              <a:srgbClr val="D6E4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1234440"/>
            <a:ext cx="2743200" cy="32004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12 Clinical Tools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581912"/>
            <a:ext cx="2606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 parser + urgent flags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Child-Pugh / MELD 3.0 / FIB-4 / ALBI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HCC: aMAP + PAGE-B scores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Baveno VII CSPH criteria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MASLD fibrosis predictor (ML, AUC 0.83)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/ HAS-BLED / SOFA (medcalc)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image analysis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5440" y="1234440"/>
            <a:ext cx="2743200" cy="2286000"/>
          </a:xfrm>
          <a:prstGeom prst="rect">
            <a:avLst/>
          </a:prstGeom>
          <a:solidFill>
            <a:srgbClr val="F0F4F7"/>
          </a:solidFill>
          <a:ln w="12700">
            <a:solidFill>
              <a:srgbClr val="D6E4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235440" y="1234440"/>
            <a:ext cx="274320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27 Diseases Covered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26880" y="1581912"/>
            <a:ext cx="2606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HBV · HCV · HDV · HEV · HAV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MASLD/NASH · ALD · AIH · DILI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 · PSC · Overlap syndrome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· Hemochromatosis · A1AT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Cirrhosis · ACLF · HCC · ALF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Varices · Ascites · HRS · HE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Budd-Chiari · PVT · AFLP · IHCP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3703320"/>
            <a:ext cx="2743200" cy="2423160"/>
          </a:xfrm>
          <a:prstGeom prst="rect">
            <a:avLst/>
          </a:prstGeom>
          <a:solidFill>
            <a:srgbClr val="F0F4F7"/>
          </a:solidFill>
          <a:ln w="12700">
            <a:solidFill>
              <a:srgbClr val="D6E4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3703320"/>
            <a:ext cx="2743200" cy="320040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703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47 Clinical Guidelines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4050792"/>
            <a:ext cx="26060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AASLD  (16 guidelines)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EASL  (20 guidelines)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Baveno VII  — Portal hypertension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SMFM  — Liver disease in pregnancy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RCOG / ACG / APASL / ICA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— Vaccination &amp; HCV Rx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Alpha-1 Foundation · ESGE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35440" y="3703320"/>
            <a:ext cx="2743200" cy="2423160"/>
          </a:xfrm>
          <a:prstGeom prst="rect">
            <a:avLst/>
          </a:prstGeom>
          <a:solidFill>
            <a:srgbClr val="F0F4F7"/>
          </a:solidFill>
          <a:ln w="12700">
            <a:solidFill>
              <a:srgbClr val="D6E4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35440" y="3703320"/>
            <a:ext cx="274320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0" y="3703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Tech Stack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26880" y="4050792"/>
            <a:ext cx="26060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backend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qwen2.5:7b  (local · free)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  (images only)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streaming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medcalc validated calculators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frontend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locally on Mac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HepatoAI  ·  Icahn School of Medicine at Mount Sinai  ·  2026  ·  Built with Claude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HepatoAI</dc:title>
  <dc:subject>PptxGenJS Presentation</dc:subject>
  <dc:creator>PptxGenJS</dc:creator>
  <cp:lastModifiedBy>PptxGenJS</cp:lastModifiedBy>
  <cp:revision>1</cp:revision>
  <dcterms:created xsi:type="dcterms:W3CDTF">2026-06-08T12:40:54Z</dcterms:created>
  <dcterms:modified xsi:type="dcterms:W3CDTF">2026-06-08T12:40:54Z</dcterms:modified>
</cp:coreProperties>
</file>