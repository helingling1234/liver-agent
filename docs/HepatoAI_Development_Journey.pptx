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097280" cy="10972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HepatoAI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28600" y="22402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Liver Disease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Agent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3218688"/>
            <a:ext cx="32004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33649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 in One Session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4617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Lingling He, 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4937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Icahn School of Medicine at Mount Sinai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5230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005840"/>
            <a:ext cx="306324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143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74920" y="15544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7492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/ Steps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75320" y="1005840"/>
            <a:ext cx="306324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0" y="1143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15544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41248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611880"/>
            <a:ext cx="306324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3749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74920" y="4160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07492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Covered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3611880"/>
            <a:ext cx="306324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0" y="3749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12480" y="4160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41248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430000" cy="36576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motivated HepatoAI and what it delivers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577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978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Clinical Challenges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7099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billion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95728" y="170992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liver disease patients worldwide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5973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459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million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95728" y="24597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HBV carriers in China alone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0954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32095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scoring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95728" y="320954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Child-Pugh · MELD · ALBI · BCLC · FIB-4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593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9593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Time-critical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95728" y="39593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Variceal hemorrhage · SBP · HRS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" y="4709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guidelines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95728" y="47091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AASLD + EASL across 27 diseases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114300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143000"/>
            <a:ext cx="5577840" cy="384048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1978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HepatoAI Delivers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170992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56832" y="1709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lab parsing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22208" y="170992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markers, flags critical values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45973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56832" y="24597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severity scoring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22208" y="245973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Child-Pugh / MELD 3.0 / ALBI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20954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56832" y="3209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22208" y="320954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diseases, probability-ranked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9593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💊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56832" y="39593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treatment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22208" y="395935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AASLD/EASL guideline citations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7091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56832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finding alerts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22208" y="470916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emergency conditions detected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430000" cy="36576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design: local free model for tools + paid API for imaging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560320" cy="1901952"/>
          </a:xfrm>
          <a:prstGeom prst="roundRect">
            <a:avLst>
              <a:gd name="adj" fmla="val 3846"/>
            </a:avLst>
          </a:prstGeom>
          <a:solidFill>
            <a:srgbClr val="E8F4F7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53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2103120" cy="18288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· Lab values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reports · CT photos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35808" y="1920240"/>
            <a:ext cx="228600" cy="502920"/>
          </a:xfrm>
          <a:prstGeom prst="rightArrow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61872"/>
            <a:ext cx="2560320" cy="1901952"/>
          </a:xfrm>
          <a:prstGeom prst="roundRect">
            <a:avLst>
              <a:gd name="adj" fmla="val 384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353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664208"/>
            <a:ext cx="2103120" cy="182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73736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 (Ollama)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Local · Private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70448" y="1920240"/>
            <a:ext cx="228600" cy="502920"/>
          </a:xfrm>
          <a:prstGeom prst="rightArrow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61872"/>
            <a:ext cx="2560320" cy="1901952"/>
          </a:xfrm>
          <a:prstGeom prst="roundRect">
            <a:avLst>
              <a:gd name="adj" fmla="val 3846"/>
            </a:avLst>
          </a:prstGeom>
          <a:solidFill>
            <a:srgbClr val="E8F4F7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353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1664208"/>
            <a:ext cx="2103120" cy="18288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73736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clinical 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Auto-selected per case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05088" y="1920240"/>
            <a:ext cx="228600" cy="502920"/>
          </a:xfrm>
          <a:prstGeom prst="rightArrow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1261872"/>
            <a:ext cx="2560320" cy="1901952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52560" y="1353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9720" y="1664208"/>
            <a:ext cx="2103120" cy="18288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737360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· Scores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· Alerts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4015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/ Pathology Photos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3474720"/>
            <a:ext cx="274320" cy="256032"/>
          </a:xfrm>
          <a:prstGeom prst="rightArrow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329184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11880" y="3419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 (OpenAI API)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3474720"/>
            <a:ext cx="274320" cy="256032"/>
          </a:xfrm>
          <a:prstGeom prst="rightArrow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40156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findings → passed to qwen2.5 for clinical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16052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452628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0624" y="4663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31720" y="452628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386584" y="4663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97680" y="452628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52544" y="4663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452628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18504" y="4663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0" y="452628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84464" y="4663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195560" y="452628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250424" y="4663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559612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github.com/helingling1234/liver-agent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430000" cy="36576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Specialized Clinical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selected and chained by the AI for each patient case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43200" cy="5486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 Parser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0756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markers · Critical value flags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11556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115568"/>
            <a:ext cx="2743200" cy="5486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55848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55848" y="20756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Child-Pugh · MELD 3.0 · ALBI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111556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115568"/>
            <a:ext cx="2743200" cy="54864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0216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0216" y="20756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diseases · Probability ranked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53144" y="111556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53144" y="1115568"/>
            <a:ext cx="2743200" cy="5486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3144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44584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 Staging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44584" y="20756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Metavir F0–F4 · FIB-4 · Fibroscan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3016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30168"/>
            <a:ext cx="2743200" cy="5486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1148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Guidelines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11480" y="45902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AASLD/EASL · Drug doses included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64408" y="363016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64408" y="3630168"/>
            <a:ext cx="2743200" cy="5486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355848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Summary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355848" y="45902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assessment &amp; plan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08776" y="363016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3630168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8776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300216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Findings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00216" y="45902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emergencies · CRITICAL/URGENT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53144" y="3630168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7B3FB5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53144" y="3630168"/>
            <a:ext cx="2743200" cy="54864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53144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244584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Scores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244584" y="45902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FIB-4 · MDF · GAHS · ABIC · Lille · PAGE-B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430000" cy="36576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Journey — 27 Iterations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through conversational prompts with Claude AI — no manual coding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532180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43200" cy="43891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(Steps 1–5)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8056" y="1682496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" y="2002536"/>
            <a:ext cx="146304" cy="146304"/>
          </a:xfrm>
          <a:prstGeom prst="ellipse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385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clinical tools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" y="2798064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" y="3118104"/>
            <a:ext cx="146304" cy="146304"/>
          </a:xfrm>
          <a:prstGeom prst="ellipse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5409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CLI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8056" y="3913632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" y="4233672"/>
            <a:ext cx="146304" cy="146304"/>
          </a:xfrm>
          <a:prstGeom prst="ellipse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69664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 app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" y="5029200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" y="5349240"/>
            <a:ext cx="146304" cy="146304"/>
          </a:xfrm>
          <a:prstGeom prst="ellipse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852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64408" y="1115568"/>
            <a:ext cx="2743200" cy="532180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1115568"/>
            <a:ext cx="2743200" cy="43891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1188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13898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Language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(Steps 6–13)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92424" y="1682496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02152" y="2002536"/>
            <a:ext cx="146304" cy="146304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21608" y="19385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(ZH/EN)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92424" y="2798064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02152" y="3118104"/>
            <a:ext cx="146304" cy="146304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1608" y="305409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92424" y="3913632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02152" y="4233672"/>
            <a:ext cx="146304" cy="146304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21608" y="4169664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 fixes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92424" y="5029200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02152" y="5349240"/>
            <a:ext cx="146304" cy="146304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21608" y="52852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08776" y="1115568"/>
            <a:ext cx="2743200" cy="532180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08776" y="1115568"/>
            <a:ext cx="2743200" cy="43891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1188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00216" y="13898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Local AI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(Steps 14–21)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36792" y="1682496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46520" y="2002536"/>
            <a:ext cx="146304" cy="146304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65976" y="19385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→ Ollama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36792" y="2798064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46520" y="3118104"/>
            <a:ext cx="146304" cy="146304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65976" y="305409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336792" y="3913632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46520" y="4233672"/>
            <a:ext cx="146304" cy="146304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5976" y="4169664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Meditron failed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36792" y="5029200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46520" y="5349240"/>
            <a:ext cx="146304" cy="146304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5976" y="52852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153144" y="1115568"/>
            <a:ext cx="2743200" cy="532180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153144" y="1115568"/>
            <a:ext cx="2743200" cy="43891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44584" y="1188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244584" y="13898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&amp; Polish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(Steps 22–27)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281160" y="1682496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390888" y="2002536"/>
            <a:ext cx="146304" cy="146304"/>
          </a:xfrm>
          <a:prstGeom prst="ellips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10344" y="19385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CT/MRI upload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9281160" y="2798064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390888" y="3118104"/>
            <a:ext cx="146304" cy="146304"/>
          </a:xfrm>
          <a:prstGeom prst="ellips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10344" y="305409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9281160" y="3913632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390888" y="4233672"/>
            <a:ext cx="146304" cy="146304"/>
          </a:xfrm>
          <a:prstGeom prst="ellips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10344" y="4169664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arch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9281160" y="5029200"/>
            <a:ext cx="2487168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390888" y="5349240"/>
            <a:ext cx="146304" cy="146304"/>
          </a:xfrm>
          <a:prstGeom prst="ellips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10344" y="52852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tools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430000" cy="36576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switch was driven by real constraints: cost, privacy, accuracy, tool support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749040" cy="2423160"/>
          </a:xfrm>
          <a:prstGeom prst="roundRect">
            <a:avLst>
              <a:gd name="adj" fmla="val 3019"/>
            </a:avLst>
          </a:prstGeom>
          <a:solidFill>
            <a:srgbClr val="F7F9FC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234440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⏪ REPLACED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472184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801368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LLM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2075688"/>
            <a:ext cx="3529584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148840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Project started with Anthropic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40487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free tier — needed API key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143000"/>
            <a:ext cx="3749040" cy="2423160"/>
          </a:xfrm>
          <a:prstGeom prst="roundRect">
            <a:avLst>
              <a:gd name="adj" fmla="val 3019"/>
            </a:avLst>
          </a:prstGeom>
          <a:solidFill>
            <a:srgbClr val="F7F9FC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07408" y="1234440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⏪ REPLACED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07408" y="1472184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07408" y="1801368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Tools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07408" y="2075688"/>
            <a:ext cx="3529584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2148840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Free 100k tokens/day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07408" y="240487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Daily quota exhausted quickly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75320" y="1143000"/>
            <a:ext cx="3749040" cy="2423160"/>
          </a:xfrm>
          <a:prstGeom prst="roundRect">
            <a:avLst>
              <a:gd name="adj" fmla="val 3019"/>
            </a:avLst>
          </a:prstGeom>
          <a:solidFill>
            <a:srgbClr val="E8F4F7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85048" y="1234440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5048" y="1472184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qwen2.5:7b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85048" y="1801368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Tools (current)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85048" y="2075688"/>
            <a:ext cx="3529584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5048" y="2148840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100% free · Local · Private · No quota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85048" y="240487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Supports tool calling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76472"/>
            <a:ext cx="3749040" cy="2423160"/>
          </a:xfrm>
          <a:prstGeom prst="roundRect">
            <a:avLst>
              <a:gd name="adj" fmla="val 3019"/>
            </a:avLst>
          </a:prstGeom>
          <a:solidFill>
            <a:srgbClr val="F7F9F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" y="3867912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" y="4105656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Meditron 7b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9768" y="4434840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LLM (attempted)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" y="4709160"/>
            <a:ext cx="3529584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78231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PubMed + AASLD trained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" y="503834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Does NOT support function calling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7680" y="3776472"/>
            <a:ext cx="3749040" cy="2423160"/>
          </a:xfrm>
          <a:prstGeom prst="roundRect">
            <a:avLst>
              <a:gd name="adj" fmla="val 3019"/>
            </a:avLst>
          </a:prstGeom>
          <a:solidFill>
            <a:srgbClr val="F7F9F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07408" y="3867912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07408" y="4105656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medgemma:4b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07408" y="4434840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vision (attempted)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07408" y="4709160"/>
            <a:ext cx="3529584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478231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Google medical model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07408" y="503834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Does NOT support function calling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75320" y="3776472"/>
            <a:ext cx="3749040" cy="2423160"/>
          </a:xfrm>
          <a:prstGeom prst="roundRect">
            <a:avLst>
              <a:gd name="adj" fmla="val 3019"/>
            </a:avLst>
          </a:prstGeom>
          <a:solidFill>
            <a:srgbClr val="E8F4F7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85048" y="3867912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85048" y="4105656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85048" y="4434840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 (current)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85048" y="4709160"/>
            <a:ext cx="3529584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85048" y="478231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Best CT/pathology photo analysis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85048" y="503834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~$0.02/image · Worth it for accuracy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430000" cy="36576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Feature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pipeline: GPT-4o reads the image, qwen2.5 handles clinical reasoning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148840" cy="217627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" y="1801368"/>
            <a:ext cx="2002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2139696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· MRI · Pathology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· X-ray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1956816"/>
            <a:ext cx="164592" cy="457200"/>
          </a:xfrm>
          <a:prstGeom prst="rightArrow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9192" y="1207008"/>
            <a:ext cx="2148840" cy="217627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9192" y="1371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52344" y="1801368"/>
            <a:ext cx="2002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52344" y="2139696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analysis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~$0.01–0.03/image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55464" y="1956816"/>
            <a:ext cx="164592" cy="457200"/>
          </a:xfrm>
          <a:prstGeom prst="rightArrow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38344" y="1207008"/>
            <a:ext cx="2148840" cy="217627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38344" y="1371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11496" y="1801368"/>
            <a:ext cx="2002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11496" y="2139696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radiology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14616" y="1956816"/>
            <a:ext cx="164592" cy="457200"/>
          </a:xfrm>
          <a:prstGeom prst="rightArrow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1207008"/>
            <a:ext cx="2148840" cy="217627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97496" y="1371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70648" y="1801368"/>
            <a:ext cx="2002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2139696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tools applied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(free, local)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3768" y="1956816"/>
            <a:ext cx="164592" cy="457200"/>
          </a:xfrm>
          <a:prstGeom prst="rightArrow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56648" y="1207008"/>
            <a:ext cx="2148840" cy="217627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56648" y="1371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29800" y="1801368"/>
            <a:ext cx="2002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29800" y="2139696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· Scoring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639312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F7F9FC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39312"/>
            <a:ext cx="5394960" cy="365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9417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Honest Limitations of Photo-Based CT Analysis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36576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1148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photos lose Hounsfield units (HU) — no density measurement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645152"/>
            <a:ext cx="36576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64515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TotalSegmentator or nnUNet without DICOM files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175504"/>
            <a:ext cx="36576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517550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GPT-4o cannot match radiologist accuracy on photos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705856"/>
            <a:ext cx="36576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5705856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use: supplement text radiology report + clinical data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89320" y="3639312"/>
            <a:ext cx="5669280" cy="2880360"/>
          </a:xfrm>
          <a:prstGeom prst="roundRect">
            <a:avLst>
              <a:gd name="adj" fmla="val 2540"/>
            </a:avLst>
          </a:prstGeom>
          <a:solidFill>
            <a:srgbClr val="F7F9FC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89320" y="3639312"/>
            <a:ext cx="5669280" cy="36576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69417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Recommended Workflow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4114800"/>
            <a:ext cx="36576" cy="27432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41148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radiology TEXT REPORT → AI does clinical reasoning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4645152"/>
            <a:ext cx="36576" cy="27432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464515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report + labs + history → comprehensive assessment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5175504"/>
            <a:ext cx="36576" cy="27432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517550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 best for: quick impression, teaching, remote consult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26480" y="5705856"/>
            <a:ext cx="36576" cy="27432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5705856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high-stakes decisions: always confirm with specialist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430000" cy="36576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Solutions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during development and how they were resolved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5961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527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Medical models don't support tool calling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1600200"/>
            <a:ext cx="4846320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733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 qwen2.5:7b for tools, medgemma/GPT-4o only for vision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143000"/>
            <a:ext cx="55961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84848" y="12527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Daily token quota exhausted (Groq 100k/day)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84848" y="1600200"/>
            <a:ext cx="4846320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16733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Switched to Ollama — fully local, unlimited, free forever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55961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🐛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0815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Python UnboundLocalError in async generator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3429000"/>
            <a:ext cx="4846320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02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Moved send() and loop to top of function scope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0488" y="2971800"/>
            <a:ext cx="55961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18504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84848" y="30815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Model repeating same tool multiple times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84848" y="3429000"/>
            <a:ext cx="4846320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3502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called_tools set — each tool called max once per session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800600"/>
            <a:ext cx="55961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9103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GPT-4o API less accurate than ChatGPT web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4400" y="5257800"/>
            <a:ext cx="4846320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309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Simplified prompt from 12 forced sections to 6 natural questions + temp 0.3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90488" y="4800600"/>
            <a:ext cx="55961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18504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84848" y="49103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Clinical Summary appearing multiple times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84848" y="5257800"/>
            <a:ext cx="4846320" cy="9144"/>
          </a:xfrm>
          <a:prstGeom prst="rect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53309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Removed from agent tools; auto-generated once at end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430000" cy="36576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 — 27 Diseases Covered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guidelines hard-coded in tools.py · AASLD, EASL, Baveno VII, SMFM, WHO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57784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261872"/>
            <a:ext cx="5358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· Metabolic · Immune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636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1618488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HBV · HCV · HDV · HAV · HEV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1856232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Hepatitis (all types)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295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392" y="2276856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 · Severe AH (MDF/GAHS/Lille)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2514600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Alcohol-Associated Liver Disease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0392" y="2935224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NAFLD / MASH (resmetirom 2024)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3172968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Liver Disease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" y="3593592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 · Type 1/2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3831336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Hepatitis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4270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" y="4251960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(UDCA + OCA/bezafibrate)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" y="4489704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Biliary Cholangitis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910328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(no UDCA rec; ERCP)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5148072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Sclerosing Cholangitis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" y="5586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⚗️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0392" y="5568696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AIH/PBC · AIH/PSC overlap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" y="5806440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Syndromes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1170432"/>
            <a:ext cx="557784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90488" y="1261872"/>
            <a:ext cx="5358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Cirrhosis · Cancer · Vascular · Pregnancy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0488" y="1636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11112" y="1618488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Ascites · SBP · HE · HRS · Varices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11112" y="1856232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Cirrhosis Complications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0488" y="2295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🎯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11112" y="2276856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 · BCLC 0/A/B/C/D · LI-RADS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11112" y="2514600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Hepatocellular Carcinoma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488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🚨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11112" y="2935224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King's College Criteria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11112" y="3172968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Liver Failure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0488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💊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611112" y="3593592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RUCAM · Hy's Law · RECAM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11112" y="3831336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Drug-Induced Liver Injury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90488" y="4270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🧬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611112" y="4251960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Wilson's · Hemochromatosis · A1AT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11112" y="4489704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Genetic/Metabolic Diseases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90488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🩸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611112" y="4910328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Budd-Chiari · Portal Vein Thrombosis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11112" y="5148072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Liver Diseases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90488" y="5586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611112" y="5568696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(SMFM 2020) · AFLP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11112" y="5806440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Pregnancy-Related Diseases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572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394960" cy="4315968"/>
          </a:xfrm>
          <a:prstGeom prst="roundRect">
            <a:avLst>
              <a:gd name="adj" fmla="val 1695"/>
            </a:avLst>
          </a:prstGeom>
          <a:solidFill>
            <a:srgbClr val="152035"/>
          </a:solidFill>
          <a:ln w="12700">
            <a:solidFill>
              <a:srgbClr val="1B7A8C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789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146304" cy="14630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clinical tools · 27 diseases covered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146304" cy="14630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66544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Child-Pugh · MELD 3.0 · ALBI · FIB-4 · MDF · PAGE-B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2633472"/>
            <a:ext cx="146304" cy="14630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96896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AASLD/EASL treatment guidelines with drug doses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163824"/>
            <a:ext cx="146304" cy="14630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27248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imaging: GPT-4o + local qwen2.5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3694176"/>
            <a:ext cx="146304" cy="14630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· Free · Private · No quota limits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4224528"/>
            <a:ext cx="146304" cy="14630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87952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source: github.com/helingling1234/liver-agent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987552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52035"/>
          </a:solidFill>
          <a:ln w="12700">
            <a:solidFill>
              <a:srgbClr val="2E7D5E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10789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Directions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4813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MedRAG + PubMed real-time literature retrieval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8653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DICOM upload + TotalSegmentator segmentation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2494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Med42-v2-70B for better clinical reasoning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6334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HIS/PACS integration (HL7/FHIR)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182112"/>
            <a:ext cx="5394960" cy="2084832"/>
          </a:xfrm>
          <a:prstGeom prst="roundRect">
            <a:avLst>
              <a:gd name="adj" fmla="val 3509"/>
            </a:avLst>
          </a:prstGeom>
          <a:solidFill>
            <a:srgbClr val="152035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38100" dist="25400" dir="2700000">
              <a:srgbClr val="C0C8D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32735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Clinical Disclaimer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6758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HepatoAI is a DECISION SUPPORT tool only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40599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replace physician clinical judgment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44439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image analysis ≠ radiologist diagnosis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48280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verify against current guidelines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742432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Thank you  ·  Questions welcome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6181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github.com/helingling1234/liver-agent  ·  lingling.he@mssm.edu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2026-06-07T01:53:09Z</dcterms:created>
  <dcterms:modified xsi:type="dcterms:W3CDTF">2026-06-07T01:53:09Z</dcterms:modified>
</cp:coreProperties>
</file>